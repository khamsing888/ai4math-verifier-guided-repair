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3cfedab474b96" /><Relationship Type="http://schemas.openxmlformats.org/officeDocument/2006/relationships/extended-properties" Target="/docProps/app.xml" Id="Ref215b1e4aed4213" /><Relationship Type="http://schemas.openxmlformats.org/officeDocument/2006/relationships/officeDocument" Target="/ppt/presentation.xml" Id="R89f3948d018a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266a283c07424d"/>
  </p:sldMasterIdLst>
  <p:notesMasterIdLst>
    <p:notesMasterId xmlns:r="http://schemas.openxmlformats.org/officeDocument/2006/relationships" r:id="Ree5f4955b3dd42db"/>
  </p:notesMasterIdLst>
  <p:sldIdLst>
    <p:sldId xmlns:r="http://schemas.openxmlformats.org/officeDocument/2006/relationships" id="256" r:id="Rf1cf27bd88b644e4"/>
    <p:sldId xmlns:r="http://schemas.openxmlformats.org/officeDocument/2006/relationships" id="257" r:id="R45b5355d72a04640"/>
    <p:sldId xmlns:r="http://schemas.openxmlformats.org/officeDocument/2006/relationships" id="258" r:id="R3b58553c58fe401b"/>
    <p:sldId xmlns:r="http://schemas.openxmlformats.org/officeDocument/2006/relationships" id="259" r:id="Rbfe679f5bd23411a"/>
    <p:sldId xmlns:r="http://schemas.openxmlformats.org/officeDocument/2006/relationships" id="260" r:id="Rdd546af5e4634699"/>
    <p:sldId xmlns:r="http://schemas.openxmlformats.org/officeDocument/2006/relationships" id="261" r:id="R736b50eae0334e2a"/>
    <p:sldId xmlns:r="http://schemas.openxmlformats.org/officeDocument/2006/relationships" id="262" r:id="Rb89b9086e3f2496a"/>
    <p:sldId xmlns:r="http://schemas.openxmlformats.org/officeDocument/2006/relationships" id="263" r:id="Ra8c0543143a14492"/>
    <p:sldId xmlns:r="http://schemas.openxmlformats.org/officeDocument/2006/relationships" id="264" r:id="Reaf8b55df7124104"/>
    <p:sldId xmlns:r="http://schemas.openxmlformats.org/officeDocument/2006/relationships" id="265" r:id="Rdcfd702f074a4e14"/>
    <p:sldId xmlns:r="http://schemas.openxmlformats.org/officeDocument/2006/relationships" id="266" r:id="R6b57e5b244da4449"/>
    <p:sldId xmlns:r="http://schemas.openxmlformats.org/officeDocument/2006/relationships" id="267" r:id="R4be78229d91f45a4"/>
    <p:sldId xmlns:r="http://schemas.openxmlformats.org/officeDocument/2006/relationships" id="268" r:id="R0ddf2d0f61164403"/>
    <p:sldId xmlns:r="http://schemas.openxmlformats.org/officeDocument/2006/relationships" id="269" r:id="R0a57385cb9554fbd"/>
    <p:sldId xmlns:r="http://schemas.openxmlformats.org/officeDocument/2006/relationships" id="270" r:id="Rcf2e2936516949d1"/>
    <p:sldId xmlns:r="http://schemas.openxmlformats.org/officeDocument/2006/relationships" id="271" r:id="R11ecb1921a3a4dfe"/>
    <p:sldId xmlns:r="http://schemas.openxmlformats.org/officeDocument/2006/relationships" id="272" r:id="R4dd02c14baf14fe2"/>
    <p:sldId xmlns:r="http://schemas.openxmlformats.org/officeDocument/2006/relationships" id="273" r:id="R1e353c4979864aed"/>
    <p:sldId xmlns:r="http://schemas.openxmlformats.org/officeDocument/2006/relationships" id="274" r:id="Ra563577734ce4144"/>
    <p:sldId xmlns:r="http://schemas.openxmlformats.org/officeDocument/2006/relationships" id="275" r:id="R81dc259638ec498e"/>
    <p:sldId xmlns:r="http://schemas.openxmlformats.org/officeDocument/2006/relationships" id="276" r:id="R1134c503d02e4b36"/>
    <p:sldId xmlns:r="http://schemas.openxmlformats.org/officeDocument/2006/relationships" id="277" r:id="Ra228b5cdfbb74ed8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5a9193e95c4c50" /><Relationship Type="http://schemas.openxmlformats.org/officeDocument/2006/relationships/slideMaster" Target="/ppt/slideMasters/slideMaster1.xml" Id="R06266a283c07424d" /><Relationship Type="http://schemas.openxmlformats.org/officeDocument/2006/relationships/notesMaster" Target="/ppt/notesMasters/notesMaster1.xml" Id="Ree5f4955b3dd42db" /><Relationship Type="http://schemas.openxmlformats.org/officeDocument/2006/relationships/presProps" Target="/ppt/presProps.xml" Id="R28a8a0bf447a4ae6" /><Relationship Type="http://schemas.openxmlformats.org/officeDocument/2006/relationships/tableStyles" Target="/ppt/tableStyles.xml" Id="R612b152adb2d4305" /><Relationship Type="http://schemas.openxmlformats.org/officeDocument/2006/relationships/slide" Target="/ppt/slides/slide1.xml" Id="Rf1cf27bd88b644e4" /><Relationship Type="http://schemas.openxmlformats.org/officeDocument/2006/relationships/slide" Target="/ppt/slides/slide2.xml" Id="R45b5355d72a04640" /><Relationship Type="http://schemas.openxmlformats.org/officeDocument/2006/relationships/slide" Target="/ppt/slides/slide3.xml" Id="R3b58553c58fe401b" /><Relationship Type="http://schemas.openxmlformats.org/officeDocument/2006/relationships/slide" Target="/ppt/slides/slide4.xml" Id="Rbfe679f5bd23411a" /><Relationship Type="http://schemas.openxmlformats.org/officeDocument/2006/relationships/slide" Target="/ppt/slides/slide5.xml" Id="Rdd546af5e4634699" /><Relationship Type="http://schemas.openxmlformats.org/officeDocument/2006/relationships/slide" Target="/ppt/slides/slide6.xml" Id="R736b50eae0334e2a" /><Relationship Type="http://schemas.openxmlformats.org/officeDocument/2006/relationships/slide" Target="/ppt/slides/slide7.xml" Id="Rb89b9086e3f2496a" /><Relationship Type="http://schemas.openxmlformats.org/officeDocument/2006/relationships/slide" Target="/ppt/slides/slide8.xml" Id="Ra8c0543143a14492" /><Relationship Type="http://schemas.openxmlformats.org/officeDocument/2006/relationships/slide" Target="/ppt/slides/slide9.xml" Id="Reaf8b55df7124104" /><Relationship Type="http://schemas.openxmlformats.org/officeDocument/2006/relationships/slide" Target="/ppt/slides/slide10.xml" Id="Rdcfd702f074a4e14" /><Relationship Type="http://schemas.openxmlformats.org/officeDocument/2006/relationships/slide" Target="/ppt/slides/slide11.xml" Id="R6b57e5b244da4449" /><Relationship Type="http://schemas.openxmlformats.org/officeDocument/2006/relationships/slide" Target="/ppt/slides/slide12.xml" Id="R4be78229d91f45a4" /><Relationship Type="http://schemas.openxmlformats.org/officeDocument/2006/relationships/slide" Target="/ppt/slides/slide13.xml" Id="R0ddf2d0f61164403" /><Relationship Type="http://schemas.openxmlformats.org/officeDocument/2006/relationships/slide" Target="/ppt/slides/slide14.xml" Id="R0a57385cb9554fbd" /><Relationship Type="http://schemas.openxmlformats.org/officeDocument/2006/relationships/slide" Target="/ppt/slides/slide15.xml" Id="Rcf2e2936516949d1" /><Relationship Type="http://schemas.openxmlformats.org/officeDocument/2006/relationships/slide" Target="/ppt/slides/slide16.xml" Id="R11ecb1921a3a4dfe" /><Relationship Type="http://schemas.openxmlformats.org/officeDocument/2006/relationships/slide" Target="/ppt/slides/slide17.xml" Id="R4dd02c14baf14fe2" /><Relationship Type="http://schemas.openxmlformats.org/officeDocument/2006/relationships/slide" Target="/ppt/slides/slide18.xml" Id="R1e353c4979864aed" /><Relationship Type="http://schemas.openxmlformats.org/officeDocument/2006/relationships/slide" Target="/ppt/slides/slide19.xml" Id="Ra563577734ce4144" /><Relationship Type="http://schemas.openxmlformats.org/officeDocument/2006/relationships/slide" Target="/ppt/slides/slide20.xml" Id="R81dc259638ec498e" /><Relationship Type="http://schemas.openxmlformats.org/officeDocument/2006/relationships/slide" Target="/ppt/slides/slide21.xml" Id="R1134c503d02e4b36" /><Relationship Type="http://schemas.openxmlformats.org/officeDocument/2006/relationships/slide" Target="/ppt/slides/slide22.xml" Id="Ra228b5cdfbb74e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79b24cd612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a41961cad4fbe" /><Relationship Type="http://schemas.openxmlformats.org/officeDocument/2006/relationships/notesMaster" Target="/ppt/notesMasters/notesMaster1.xml" Id="R0389e42f47e448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c774a0f854081" /><Relationship Type="http://schemas.openxmlformats.org/officeDocument/2006/relationships/notesMaster" Target="/ppt/notesMasters/notesMaster1.xml" Id="Rdeeae1e65f5a41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7831e6a6ca40f1" /><Relationship Type="http://schemas.openxmlformats.org/officeDocument/2006/relationships/notesMaster" Target="/ppt/notesMasters/notesMaster1.xml" Id="Rf6a532047d754d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9e4925f5cf42e5" /><Relationship Type="http://schemas.openxmlformats.org/officeDocument/2006/relationships/notesMaster" Target="/ppt/notesMasters/notesMaster1.xml" Id="R6ef4ac73e42343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6c165fb56043b7" /><Relationship Type="http://schemas.openxmlformats.org/officeDocument/2006/relationships/notesMaster" Target="/ppt/notesMasters/notesMaster1.xml" Id="R1a5b6db946534f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e4028e17ad4dc1" /><Relationship Type="http://schemas.openxmlformats.org/officeDocument/2006/relationships/notesMaster" Target="/ppt/notesMasters/notesMaster1.xml" Id="R23f2d987bcea44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8c0144d3a4873" /><Relationship Type="http://schemas.openxmlformats.org/officeDocument/2006/relationships/notesMaster" Target="/ppt/notesMasters/notesMaster1.xml" Id="R8042a92ad1984d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379be28d484269" /><Relationship Type="http://schemas.openxmlformats.org/officeDocument/2006/relationships/notesMaster" Target="/ppt/notesMasters/notesMaster1.xml" Id="R070692d0a45a46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69514ff2948db" /><Relationship Type="http://schemas.openxmlformats.org/officeDocument/2006/relationships/notesMaster" Target="/ppt/notesMasters/notesMaster1.xml" Id="Rd516b6a7fc704d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1ade8638b24700" /><Relationship Type="http://schemas.openxmlformats.org/officeDocument/2006/relationships/notesMaster" Target="/ppt/notesMasters/notesMaster1.xml" Id="R61710930835b4f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f21f2c00bd4f3b" /><Relationship Type="http://schemas.openxmlformats.org/officeDocument/2006/relationships/notesMaster" Target="/ppt/notesMasters/notesMaster1.xml" Id="Re9f5eb557d664a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ca12fbd1be4e18" /><Relationship Type="http://schemas.openxmlformats.org/officeDocument/2006/relationships/notesMaster" Target="/ppt/notesMasters/notesMaster1.xml" Id="R7cead66cc76e49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ee827c947e436e" /><Relationship Type="http://schemas.openxmlformats.org/officeDocument/2006/relationships/notesMaster" Target="/ppt/notesMasters/notesMaster1.xml" Id="Rbe23d65c106b4b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d9474c03264496" /><Relationship Type="http://schemas.openxmlformats.org/officeDocument/2006/relationships/notesMaster" Target="/ppt/notesMasters/notesMaster1.xml" Id="Rfed9dce63b2749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e08099d82c4fdb" /><Relationship Type="http://schemas.openxmlformats.org/officeDocument/2006/relationships/notesMaster" Target="/ppt/notesMasters/notesMaster1.xml" Id="Rb815f99fa73f4a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4c8eb9da154056" /><Relationship Type="http://schemas.openxmlformats.org/officeDocument/2006/relationships/notesMaster" Target="/ppt/notesMasters/notesMaster1.xml" Id="R232892c0738646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f7892f1d18460e" /><Relationship Type="http://schemas.openxmlformats.org/officeDocument/2006/relationships/notesMaster" Target="/ppt/notesMasters/notesMaster1.xml" Id="R40bcf2c640b044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6ab1134f77490a" /><Relationship Type="http://schemas.openxmlformats.org/officeDocument/2006/relationships/notesMaster" Target="/ppt/notesMasters/notesMaster1.xml" Id="Rf722eab6bcb84d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ea285bcdc44c81" /><Relationship Type="http://schemas.openxmlformats.org/officeDocument/2006/relationships/notesMaster" Target="/ppt/notesMasters/notesMaster1.xml" Id="R8172d124baaf4c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e963cfbbfa4a4c" /><Relationship Type="http://schemas.openxmlformats.org/officeDocument/2006/relationships/notesMaster" Target="/ppt/notesMasters/notesMaster1.xml" Id="Ra6378d28baa144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37d2f3b94146b5" /><Relationship Type="http://schemas.openxmlformats.org/officeDocument/2006/relationships/notesMaster" Target="/ppt/notesMasters/notesMaster1.xml" Id="R4cbe3cbf799942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48f4696e714366" /><Relationship Type="http://schemas.openxmlformats.org/officeDocument/2006/relationships/notesMaster" Target="/ppt/notesMasters/notesMaster1.xml" Id="R59924434ace44e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d177fdb5d40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29dcdd7914278" /><Relationship Type="http://schemas.openxmlformats.org/officeDocument/2006/relationships/slideLayout" Target="/ppt/slideLayouts/slideLayout1.xml" Id="R29b5c6afe3b443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5c6afe3b443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1789af940476c" /><Relationship Type="http://schemas.openxmlformats.org/officeDocument/2006/relationships/image" Target="/ppt/media/image.png" Id="R02cdee7d91a64a1d" /><Relationship Type="http://schemas.openxmlformats.org/officeDocument/2006/relationships/notesSlide" Target="/ppt/notesSlides/notesSlide1.xml" Id="Rf38b061141c4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61a77882942e4" /><Relationship Type="http://schemas.openxmlformats.org/officeDocument/2006/relationships/image" Target="/ppt/media/image2.png" Id="R1d218203465c468a" /><Relationship Type="http://schemas.openxmlformats.org/officeDocument/2006/relationships/notesSlide" Target="/ppt/notesSlides/notesSlide2.xml" Id="Rde6d2d06c006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f4ef1eaba4b53" /><Relationship Type="http://schemas.openxmlformats.org/officeDocument/2006/relationships/image" Target="/ppt/media/image3.png" Id="R9861abb3a3a9404d" /><Relationship Type="http://schemas.openxmlformats.org/officeDocument/2006/relationships/notesSlide" Target="/ppt/notesSlides/notesSlide3.xml" Id="Reea1e590ce384b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9f212a51e4e07" /><Relationship Type="http://schemas.openxmlformats.org/officeDocument/2006/relationships/image" Target="/ppt/media/image4.png" Id="Rde375d88a86041ec" /><Relationship Type="http://schemas.openxmlformats.org/officeDocument/2006/relationships/notesSlide" Target="/ppt/notesSlides/notesSlide4.xml" Id="R3ec157fb1a944b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4f632b8204d35" /><Relationship Type="http://schemas.openxmlformats.org/officeDocument/2006/relationships/image" Target="/ppt/media/image5.png" Id="R0bffd2127ee747e8" /><Relationship Type="http://schemas.openxmlformats.org/officeDocument/2006/relationships/notesSlide" Target="/ppt/notesSlides/notesSlide5.xml" Id="R1a8415c2a97144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ed1af944f4605" /><Relationship Type="http://schemas.openxmlformats.org/officeDocument/2006/relationships/image" Target="/ppt/media/image6.png" Id="R1b88826f4130463c" /><Relationship Type="http://schemas.openxmlformats.org/officeDocument/2006/relationships/notesSlide" Target="/ppt/notesSlides/notesSlide6.xml" Id="R4a68849f086c40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79efcce0f428e" /><Relationship Type="http://schemas.openxmlformats.org/officeDocument/2006/relationships/image" Target="/ppt/media/image7.png" Id="Ra5b7274d18fa4301" /><Relationship Type="http://schemas.openxmlformats.org/officeDocument/2006/relationships/notesSlide" Target="/ppt/notesSlides/notesSlide7.xml" Id="R9f809e5e66f3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5ea293ca4d7e" /><Relationship Type="http://schemas.openxmlformats.org/officeDocument/2006/relationships/image" Target="/ppt/media/image8.png" Id="R8375875fff774ff7" /><Relationship Type="http://schemas.openxmlformats.org/officeDocument/2006/relationships/notesSlide" Target="/ppt/notesSlides/notesSlide8.xml" Id="R327d9c50a82c4b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0155a588e49d0" /><Relationship Type="http://schemas.openxmlformats.org/officeDocument/2006/relationships/image" Target="/ppt/media/image9.png" Id="R91b135d3fedf4ccd" /><Relationship Type="http://schemas.openxmlformats.org/officeDocument/2006/relationships/notesSlide" Target="/ppt/notesSlides/notesSlide9.xml" Id="Rb17d919119a04f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8c384b201489c" /><Relationship Type="http://schemas.openxmlformats.org/officeDocument/2006/relationships/image" Target="/ppt/media/image10.png" Id="Rc63f4a43d7c84248" /><Relationship Type="http://schemas.openxmlformats.org/officeDocument/2006/relationships/notesSlide" Target="/ppt/notesSlides/notesSlide10.xml" Id="R8f408a6689c443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1eeb0f6d44f7c" /><Relationship Type="http://schemas.openxmlformats.org/officeDocument/2006/relationships/image" Target="/ppt/media/image11.png" Id="R714c3ab0c9794560" /><Relationship Type="http://schemas.openxmlformats.org/officeDocument/2006/relationships/notesSlide" Target="/ppt/notesSlides/notesSlide11.xml" Id="Rd484a14995954e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40c140e3b4aad" /><Relationship Type="http://schemas.openxmlformats.org/officeDocument/2006/relationships/image" Target="/ppt/media/image12.png" Id="R5a94ab033a784016" /><Relationship Type="http://schemas.openxmlformats.org/officeDocument/2006/relationships/notesSlide" Target="/ppt/notesSlides/notesSlide12.xml" Id="Rd23f9c811a8649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73c77fb664c6e" /><Relationship Type="http://schemas.openxmlformats.org/officeDocument/2006/relationships/image" Target="/ppt/media/image13.png" Id="R009d3953d9d846e9" /><Relationship Type="http://schemas.openxmlformats.org/officeDocument/2006/relationships/notesSlide" Target="/ppt/notesSlides/notesSlide13.xml" Id="Ra96539f0dc284c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214069c2347e6" /><Relationship Type="http://schemas.openxmlformats.org/officeDocument/2006/relationships/image" Target="/ppt/media/image14.png" Id="Rfb71e8313be849fd" /><Relationship Type="http://schemas.openxmlformats.org/officeDocument/2006/relationships/notesSlide" Target="/ppt/notesSlides/notesSlide14.xml" Id="R56df51591f4844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352cb23644d8c" /><Relationship Type="http://schemas.openxmlformats.org/officeDocument/2006/relationships/image" Target="/ppt/media/image15.png" Id="Re84fdf595cd643d4" /><Relationship Type="http://schemas.openxmlformats.org/officeDocument/2006/relationships/notesSlide" Target="/ppt/notesSlides/notesSlide15.xml" Id="Rf8a47f83204b4e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f6378061044eb" /><Relationship Type="http://schemas.openxmlformats.org/officeDocument/2006/relationships/image" Target="/ppt/media/image16.png" Id="R7331c106b7ba4182" /><Relationship Type="http://schemas.openxmlformats.org/officeDocument/2006/relationships/notesSlide" Target="/ppt/notesSlides/notesSlide16.xml" Id="Ra978ea154cbf46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8209fc4c843ca" /><Relationship Type="http://schemas.openxmlformats.org/officeDocument/2006/relationships/image" Target="/ppt/media/image17.png" Id="R912a68014d4744d3" /><Relationship Type="http://schemas.openxmlformats.org/officeDocument/2006/relationships/notesSlide" Target="/ppt/notesSlides/notesSlide17.xml" Id="Rf168553113ce49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af559bde54c05" /><Relationship Type="http://schemas.openxmlformats.org/officeDocument/2006/relationships/image" Target="/ppt/media/image18.png" Id="R8a0f085e21094ef7" /><Relationship Type="http://schemas.openxmlformats.org/officeDocument/2006/relationships/notesSlide" Target="/ppt/notesSlides/notesSlide18.xml" Id="R6195b04249fd4d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d9e32a45a4da4" /><Relationship Type="http://schemas.openxmlformats.org/officeDocument/2006/relationships/image" Target="/ppt/media/image19.png" Id="R3e97edf040984b61" /><Relationship Type="http://schemas.openxmlformats.org/officeDocument/2006/relationships/notesSlide" Target="/ppt/notesSlides/notesSlide19.xml" Id="Refc81d8213e744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76e4e12424fd6" /><Relationship Type="http://schemas.openxmlformats.org/officeDocument/2006/relationships/image" Target="/ppt/media/image20.png" Id="R8309407b349a40cc" /><Relationship Type="http://schemas.openxmlformats.org/officeDocument/2006/relationships/notesSlide" Target="/ppt/notesSlides/notesSlide20.xml" Id="R72b2bbf5e8354a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19550b51846a5" /><Relationship Type="http://schemas.openxmlformats.org/officeDocument/2006/relationships/image" Target="/ppt/media/image21.png" Id="R8a605c03c8eb4297" /><Relationship Type="http://schemas.openxmlformats.org/officeDocument/2006/relationships/notesSlide" Target="/ppt/notesSlides/notesSlide21.xml" Id="R6e86b72413b64f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bb107ae5141ca" /><Relationship Type="http://schemas.openxmlformats.org/officeDocument/2006/relationships/image" Target="/ppt/media/image22.png" Id="R2305397b23e44d79" /><Relationship Type="http://schemas.openxmlformats.org/officeDocument/2006/relationships/notesSlide" Target="/ppt/notesSlides/notesSlide22.xml" Id="R5d7c24af49f540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9543B-350A-4141-A215-009749B0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382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60000"/>
                </a:solidFill>
              </a:defRPr>
            </a:pPr>
            <a:r>
              <a:rPr sz="26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F4F11-8EEF-4B88-B7BD-52253B6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8B8"/>
                </a:solidFill>
              </a:defRPr>
            </a:pPr>
            <a:r>
              <a:rPr sz="2100" b="1">
                <a:solidFill>
                  <a:srgbClr val="1328B8"/>
                </a:solidFill>
              </a:rPr>
              <a:t>Big Data - INT4418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192DC-D250-46DC-90F8-F7CF309D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Giảng viên: TS. Nguyễn Kiều Linh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0C7CE-119E-4596-A8A0-64B168FD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Khoa Trí tuệ nhân tạo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3C283-0C74-4901-85E5-099E5DA5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Học viện Công nghệ Bưu chính Viễn thông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05A3-9909-4DE9-9F11-ABBC3435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Hà Nội, năm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DF7A0-3EB1-4C29-8563-3426F2EB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99E"/>
                </a:solidFill>
              </a:defRPr>
            </a:pPr>
            <a:r>
              <a:rPr sz="1350" b="1">
                <a:solidFill>
                  <a:srgbClr val="00599E"/>
                </a:solidFill>
              </a:rPr>
              <a:t>http://www.ptit.edu.vn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dee7d91a64a1d"/>
          <a:stretch xmlns:a="http://schemas.openxmlformats.org/drawingml/2006/main"/>
        </p:blipFill>
        <p:spPr>
          <a:xfrm xmlns:a="http://schemas.openxmlformats.org/drawingml/2006/main">
            <a:off x="6572250" y="3341757"/>
            <a:ext cx="1619250" cy="15556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58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11161-AC00-4432-8937-1E9C6582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Giới thiệu học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D963A-3F10-4F39-BEC6-216774B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A1D38-B290-479B-83CC-3772600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F2B37-3F1B-4389-8B05-0773B134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Thông tin chính thức của học phần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0934-55A9-40F8-9780-ACB3E892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35C1F-5E90-4A46-B8BB-3A9A9D6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FE2E4-5CDA-4F2C-85E9-82E05803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18203465c468a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7BCCE-5B5C-4077-B725-FC0A1C5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Khối lượng học tập được xác định theo đề cương INT4418.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04D59-3F50-4D50-B361-B950DD6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4BD0F-BD50-4099-A423-29235F5E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02 tín chỉ - học phần tự chọn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03216-140F-4EC0-9E04-EB54507E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F1AAB-319C-46DA-9009-E8DA04D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24 giờ lý thuyết - 6 giờ thảo luận/thực hành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D7139-EF38-438D-B4EE-470088D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1314A-3730-48CF-9DAC-B9F120A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90 giờ tự học - tổng khối lượng 120 giờ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D1B9A-58AF-4D78-8060-DC728A1A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19314-2188-445B-B048-11AB7240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Tiên quyết: xác suất - thống kê, đại số tuyến tính, lập trình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308CA-43AA-4F23-AFA3-132829EC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34BEF-03C1-4BFA-AC1E-A90DB9D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NHỊP HỌC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AD623-D156-48BF-B995-B0D687BC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10 tuần: 3 giờ trên lớp và 9 giờ tự học mỗi tuần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5803E-6D94-447A-8855-72013744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58839-B28F-4B54-A395-3A60C64D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Các bạn sẽ tổ chức 9 giờ tự học mỗi tuần như thế nào?</a:t>
            </a:r>
          </a:p>
        </p:txBody>
      </p:sp>
    </p:spTree>
    <p:extLst>
      <p:ext uri="{BB962C8B-B14F-4D97-AF65-F5344CB8AC3E}">
        <p14:creationId xmlns:p14="http://schemas.microsoft.com/office/powerpoint/2010/main" val="875097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BEC3F-4E38-4F0B-B0AA-E3035427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Giới thiệu học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53D2D-6725-44DE-96EC-45FD289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2ECCC-6222-4453-B1B1-C03F18FC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A768E-A639-47A1-8CC8-10E483CE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Vai trò của học phần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925CA-BB72-4DED-8C25-FA078C8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FEBF0-C0A3-4486-B136-BD54C8C7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5618C-FA9E-4863-BF9E-041C318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1abb3a3a9404d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BA12A-6BE4-497B-9003-DF53728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Học xong, các bạn phải triển khai được hệ thống và giải thích kết quả bằng số đo.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BFA83-8635-4557-B409-A68EBA8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95B53-E6E0-4607-938D-6BDFD8C4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Hiểu MapReduce, hệ thống tệp phân tán và xử lý phân tán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E04B8-00E6-465F-BE2E-DFFFC5DD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121F-0857-49EB-A93B-A2B7018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Cài đặt pipeline trên Hadoop hoặc Spark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D79B6-6448-4122-97B6-EA3312A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3D568-317D-4EF3-B18B-283DBAD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Xử lý văn bản, chỉ mục và đồ thị lớn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241AB-5EBD-4FAB-99D1-4DA707E1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40086-00B0-46CF-9766-4FCAB91C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Đánh giá đúng hiệu năng và khả năng mở rộng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7D226-0622-4AD6-A491-6777B35C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87A8B-C950-4F8B-9FD9-CAE8865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ĐIỂM NHẤN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5E201-AE57-4D95-B7E2-2A52AA0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Công cụ là phương tiện; mô hình chi phí và bằng chứng thực nghiệm mới là năng lực cốt lõi.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5ABA1-B8E9-49F0-B275-A297106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B01C3-C043-4141-854D-D0F4272C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Một chương trình chạy đúng đã đủ để gọi là xử lý Big Data chưa?</a:t>
            </a:r>
          </a:p>
        </p:txBody>
      </p:sp>
    </p:spTree>
    <p:extLst>
      <p:ext uri="{BB962C8B-B14F-4D97-AF65-F5344CB8AC3E}">
        <p14:creationId xmlns:p14="http://schemas.microsoft.com/office/powerpoint/2010/main" val="902267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AB0D55-1DE3-4F88-B54A-6522CBF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Giới thiệu học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19E0E-484D-4E86-B4A9-7607AC4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98FA0-1883-4AF5-ADB6-E486E3A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488C-0BBA-4177-94B1-662A5C7F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Chuẩn đầu ra: cốt lõi và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F453D-D4E4-48AE-9695-0CA5B7C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30D4A-82E2-415B-A926-4C06AA78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5343A-4C10-4068-A4B5-4EA179AD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75d88a86041ec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DDE9B-03B5-4F76-9CFA-C8DBFD68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Giữ chuẩn đề cương, đồng thời bổ sung năng lực thực nghiệm hiện đại.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006E6-9ACA-425B-9EC5-7A4C0B9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Theo đề cương INT4418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469A0-876B-47CC-A0A7-C2405277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Năng lực triển khai bổ sung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3A9AE-4DC0-4ACE-B592-18B57B33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9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F40BD-94CC-4D21-BC93-F75724F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9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C613-A80E-4DCF-939C-7C6F2E6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C27D9-8B75-43AE-867D-95D2521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Trình bày khái niệm Big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5F9FA-4693-4457-AD48-937E4D18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3AF55-FA43-4229-8B63-A3131008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Hiểu mô hình MapReduce/Hadoop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6ACE4-84B6-467D-8D11-D47C3A8C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0D67D-3E6A-4164-9B27-44E57DC2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Cài đặt thuật toán cơ bản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C3BF3-FD87-4A2E-8BBF-F4287405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F611D-0C1D-4784-ABD5-DA7530D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Xử lý văn bản và đồ thị lớn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E1316-B2E0-4DCC-A2D2-3B13F429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003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28564-C7AE-45E8-82A8-65996BA8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812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Thiết kế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BD87D-77A0-4A91-84FC-19592326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908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DFB37-C287-4AB4-A632-47C216AE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71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Chạy thí nghiệm scalability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5AA52-6AC5-4803-AA3B-B60AE57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814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53346-136C-4E15-9373-264C66D6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623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Phân tích trade-off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C963B-FF0B-4A50-A274-FFABCA0C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D6451-CA57-423E-B4EF-3536E24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529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Tái lập kết quả</a:t>
            </a:r>
          </a:p>
        </p:txBody>
      </p:sp>
    </p:spTree>
    <p:extLst>
      <p:ext uri="{BB962C8B-B14F-4D97-AF65-F5344CB8AC3E}">
        <p14:creationId xmlns:p14="http://schemas.microsoft.com/office/powerpoint/2010/main" val="2108001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3B1C66-CA01-4AD1-BE14-A0690BE5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Giới thiệu học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68AA6-6356-460F-9AE8-6270B6B1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4F4DB-F7D9-4291-8A45-C5C0D1FB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C883-3A3C-4C97-80AC-8135FAB0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Nội dung học đi từ nền tảng đến ứng dụng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EC77D-6D51-46B5-841C-F108C2F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D075-B5D5-4DF0-8779-4ABF7510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882AE-7D81-4025-840B-9305C395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fd2127ee747e8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04EA4-B1AE-4C95-91B2-BED1AB4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Năm chương trong đề cương được kết nối với thực nghiệm hiện đại.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EA919-42EF-476E-AE55-11AFD79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127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31EAF-4258-43F4-A95F-6CE72F6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27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F2B80-ED6B-4036-AE91-AD800DDB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113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Tổng quan và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FF678-1F18-4CAB-90F7-F431875E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2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42915-DB64-47B1-8B2A-C0896B5E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152650"/>
            <a:ext cx="127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2E21F-7FD5-47A6-B1FA-64E02C1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476500"/>
            <a:ext cx="127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808CB-B05B-4CF7-9011-D7D0485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581275"/>
            <a:ext cx="113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MapReduce và Hadoop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70BAC-E0A1-4E32-A1DE-F0C47907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35797-3A42-4319-8244-334A086D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2152650"/>
            <a:ext cx="127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20649-7025-4E74-A41F-D2692D6E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2476500"/>
            <a:ext cx="127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E137D-D23D-4FAE-85EA-678B579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050" y="2581275"/>
            <a:ext cx="113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Thuật toán MapReduce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880F8-A03A-4BA8-BE5B-6F1A3E7E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56FB7-EF3A-4F33-84FB-5E7A9B8C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27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BC6C7-1AE2-46A0-8896-D7509F63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127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0078C-9FBE-42B1-AC77-16997F0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113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Văn bản và chỉ mục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3C352-08A3-41F1-A832-84AE3E82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657A5-829D-4141-927B-6B34C98C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75" y="2152650"/>
            <a:ext cx="127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78EC0-A8AF-4660-8D9D-6C545AE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75" y="2476500"/>
            <a:ext cx="127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C09FF-2A47-4C2A-A676-E09E9938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0" y="2581275"/>
            <a:ext cx="113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Đồ thị và PageRank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B967A-F2B2-4BC7-B500-AA20E97E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82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A0C9C-C659-4B40-B734-DCB936D7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125" y="2152650"/>
            <a:ext cx="127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979CE4-A21A-4C0A-806F-93665CAF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125" y="2476500"/>
            <a:ext cx="127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3727C-3E31-46B0-A36D-67E337B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581275"/>
            <a:ext cx="113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Thực nghiệm hiện đại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EC1457-BC08-4C1C-9CA1-410F80E9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Ghi nhớ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C7B1F0-60F7-4AB3-A077-D71D6AA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Spark, định dạng cột và đo khả năng mở rộng được dùng xuyên suốt các bài thực hành.</a:t>
            </a:r>
          </a:p>
        </p:txBody>
      </p:sp>
    </p:spTree>
    <p:extLst>
      <p:ext uri="{BB962C8B-B14F-4D97-AF65-F5344CB8AC3E}">
        <p14:creationId xmlns:p14="http://schemas.microsoft.com/office/powerpoint/2010/main" val="1931223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4FFCF-6DBA-4C3A-8C16-FA2D1FA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Giới thiệu học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7D61B-4E33-49A8-B30B-FEDE392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259E-020F-426E-8D0E-65733517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BE702-DE50-4985-B099-9C0D46C2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Khối lượng học tập: 120 giờ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F49C8-BF09-442A-8849-7517C02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65945-2693-4E59-8C15-756FE1B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6757D-54C5-49E6-8B11-CBFE7476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8826f4130463c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BF1BA-DA54-4AA5-8CA5-4718D367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Hai tín chỉ gồm giờ trên lớp và phần tự học phải tạo ra sản phẩm.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A7AB8-AF58-49FF-BD84-E857422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CB3E1-86AB-4D41-B246-F76FAE17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24 giờ lý thuyết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DE912-A5E2-4CF5-9176-F04A4F78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77C4A-8754-4B97-880D-9E94B2FC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 giờ thảo luận và thực hành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3A38F-AD2C-444E-BB4B-50A0847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D37BC-F62F-4392-8802-981B1BB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90 giờ tự học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F3D1E-65AE-417A-8951-38CDAC8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D3C68-1257-4281-B333-CF852DB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10 tuần triển khai - trung bình 9 giờ tự học mỗi tuần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7C953-AC46-42E4-BACF-93B8392B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BA88A-4566-441A-9E5E-8A05CF09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PHÂN BỔ GỢI 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01E5E-37D0-4DD9-B031-AD79D3E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3 giờ đọc - 4 giờ lab/project - 2 giờ ghi chép và phản biện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7DFE1-8F98-4F52-895D-DEAEE0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D24EE-B46B-43D4-993F-5155738A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Phần tự học nào phải tạo ra bằng chứng kiểm tra được?</a:t>
            </a:r>
          </a:p>
        </p:txBody>
      </p:sp>
    </p:spTree>
    <p:extLst>
      <p:ext uri="{BB962C8B-B14F-4D97-AF65-F5344CB8AC3E}">
        <p14:creationId xmlns:p14="http://schemas.microsoft.com/office/powerpoint/2010/main" val="823727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CF3D3E-4393-41C8-8B3E-0F11FC47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Giới thiệu học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A0D5E-5BAF-41C8-9152-003056E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F90E2-4811-40E7-8C4B-34812A2F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72C45-62F2-4419-8AB2-623DF083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Lộ trình 10 tuần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3B4D4-F0CC-4906-816A-2571492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91720-561F-4DC1-B4D7-7319754C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CA9B-0326-4BC2-8C5B-C7D7164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7274d18fa4301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E0069-6590-46C5-A5A3-B3EBDA83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Bài giảng bám năm chương; thực hành và bài tập lớn tích lũy từng tuần.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3EEF4-160B-4D51-91C3-3ECE3DEA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EA092-9941-4FE8-83BF-00A76876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52CFA-9D1D-43FE-ADCB-363D6350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W1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Tổng quan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19856-954E-4D63-96FB-D263ED4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C9418-E175-4F7C-86DD-1A0FE8EA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63C6A-67E3-4C0D-AC1B-D0DB9ABB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0890A-9057-45CF-B46B-C23F28C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W2-3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Hadoop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E8906-4876-4F47-9CA6-F50C8ED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FBFF3-98D8-4F68-93A9-048EEF8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AF0D3-0F79-423A-9709-725993F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245FB-0717-46DE-8C29-E52FACA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W4-5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MapReduce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79D77-34BE-4626-B8B3-F872AFD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BDE1D-42F3-40A0-A765-8A48EBC0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B93B0-30DD-42C5-99F2-87C574A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6D66C-6F23-49A0-8815-09639DAE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W6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Seminar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59D1E-7E1B-45C7-A687-0C31C038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7EC87-E20E-4CE0-B9B7-8B541DC7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8ADEB-EF86-4D4A-A0E1-9587AB3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5CC65-11D8-4EB1-A71D-8F6DD582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W7-10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Text, graph, seminar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3004C-880C-4BFC-BAE7-E831159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Ghi nhớ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F6D87-80DB-4EF6-98A1-97E7FBE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Các mốc seminar theo đề cương đặt ở tuần 6 và tuần 10.</a:t>
            </a:r>
          </a:p>
        </p:txBody>
      </p:sp>
    </p:spTree>
    <p:extLst>
      <p:ext uri="{BB962C8B-B14F-4D97-AF65-F5344CB8AC3E}">
        <p14:creationId xmlns:p14="http://schemas.microsoft.com/office/powerpoint/2010/main" val="1071792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0322A-B661-4BB1-87BC-A117EE1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C4F07-2C33-4C0C-84C9-16659A21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3856-8BB8-4CF5-92CB-07AB1D03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08952-F447-4DDF-B170-550D506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Bài tập lớn AI4Math là trục ứng dụng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CBB4B-0963-4B5F-8A75-4EE24518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05CEE-C0D5-4889-8CB2-BA114E43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7F013-C3E2-4CBF-AD5E-02C76B61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5875fff774ff7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A0BF1-2563-4D49-B935-C4F37583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49 bạn được chia thành 8 nhóm, mỗi nhóm 6-7 thành viên.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0EAFD-35AF-4144-9C65-2578FF93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4AB0D-9106-440E-B8D9-5FF9BECB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01 nhóm 7 bạn và 07 nhóm 6 bạn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1FCA5-C835-42AB-B35C-86705909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6BB76-B361-4E57-8A7B-58062B10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Làm liên tục trong 10 tuần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99C8D-49B9-4C04-949D-9785AFA9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34BC0-8A48-4870-B272-1FFE2C2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Dữ liệu thật + baseline + thí nghiệm scalability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347D3-D929-4CB5-9593-A242CC28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32D4D-9DD1-464F-9E58-5699F5A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Bàn giao code, data card, báo cáo và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E91BF-BA3A-41BF-838C-9A062FAC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BED31-81F4-4BA7-97F7-1622A71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MỤC TIÊU CHUNG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45930-6715-4BA6-892E-B7728A6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Tạo các mô-đun AI4Math độc lập nhưng có thể tích hợp thành một hệ thống.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335A7-A610-433B-B3A3-26C16B5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E3568-B581-4EA1-A0BD-1FD11EB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Vai trò Big Data phải được chứng minh bằng thí nghiệm nào?</a:t>
            </a:r>
          </a:p>
        </p:txBody>
      </p:sp>
    </p:spTree>
    <p:extLst>
      <p:ext uri="{BB962C8B-B14F-4D97-AF65-F5344CB8AC3E}">
        <p14:creationId xmlns:p14="http://schemas.microsoft.com/office/powerpoint/2010/main" val="387821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BCEAA-9178-4D22-A266-028342F3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8D3D4-CC89-48C2-88CB-B31D7FA1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8BC3F-7E02-4FB6-83CE-557C1156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20374-DCBB-466A-9B6C-BF3D0593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Tám project cho tám nhóm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75EA7-0C2B-4494-A66B-40088F4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7F3D9-623A-4AD4-9340-72FE79F8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5F0BF-FECC-41A8-92AC-17B0EBC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135d3fedf4ccd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F6C1A-89E0-4958-9036-1CEAEC5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Mỗi project giải quyết một nút thắt dữ liệu hoặc hệ thống rõ ràng.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D7AB8-4485-4DC1-9215-1245779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và truy hồi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E813D-45FD-43C8-829E-2DB48D22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Sinh, kiểm chứng và tương tác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24FD6-540A-4F6F-8255-BA9490C2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9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7865D-3FD0-4267-8568-F3C9095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9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A15DD-F1B7-4CC4-BB88-1598AF1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C1C8D-5F14-402A-A582-7674A7BB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N1 - Data Lake: ingestion/schema (7)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321F1-FFCE-4CA6-A1FA-A70D5D5B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3229C-31AC-446F-8F3F-B4A275D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N2 - Data quality &amp; leakage (6)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2AA56-FDAE-43CD-B94F-8A3062DA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0A043-D86C-4754-B9D3-EBCD448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N3 - Sparse/hybrid retrieval (6)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2D9A2-C295-4435-8E92-0F3F0C44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27659-1C65-49AB-B662-046EB2F4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N4 - Dense/ANN retrieval (6)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856A1-38BD-4179-BE16-7DEC286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003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DED6A-882C-435E-B536-361EDC13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812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N5 - Autoformalization (6)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44781-7F2F-407F-9608-F9BCB7C8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908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0925D-056F-4FC0-8F52-CDD8CB78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71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N6 - Verifier-guided repair (6)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02F0C-894E-45E5-AD4A-88670525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814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24808-735F-4C56-86B4-FEAD1BF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623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N7 - Proof-search analytics (6)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C1C84-6729-487E-8D70-F4850DE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830F6-3BF0-4466-B520-DABC5D1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529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N8 - AI Math Tutor (6)</a:t>
            </a:r>
          </a:p>
        </p:txBody>
      </p:sp>
    </p:spTree>
    <p:extLst>
      <p:ext uri="{BB962C8B-B14F-4D97-AF65-F5344CB8AC3E}">
        <p14:creationId xmlns:p14="http://schemas.microsoft.com/office/powerpoint/2010/main" val="1228270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6BACC-1928-4C8E-9852-9EF58D5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B9670-8E17-4AD1-A960-26CC39B7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B6134-757B-4DA8-9B95-8744FA4D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24BFF-1A75-4394-A5D5-297DDFF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1 - Math Data Lake: Ingestion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C48D3-A42F-483C-A7B6-BCC4DAA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FF6EB-8634-4F8A-8AB2-F5BB8B72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153DF-C65B-47FA-B221-C5EFC88A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f4a43d7c84248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D99D-BB13-479B-9B79-807E907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Hợp nhất dữ liệu toán nhiều nguồn thành một schema có thể truy vấn.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9EF3A-17F7-46EE-B091-232C370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8DC3C-B0C8-4844-8FB0-E5807CC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EA9C3-BC7A-499B-8329-9E1F306A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NuminaMath, ProofNet, mathlib4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1C323-2210-4402-BD6C-BB3BFCD9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F4577-8AC7-43FE-A063-622ED81D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Công cụ: Spark ETL, schema,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9495F-0E7D-4F02-AEAD-13FEEBE0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4525B-0017-46EB-A266-BA93E41D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JSONL và script tuần tự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CD20A-6B6A-48F2-B64B-3E379842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0CD86-992D-4226-A46A-CCF594E0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10K → 100K → toàn bộ dữ liệu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F767-D3A2-4844-AD61-50B6D7F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CA108-4705-44E0-9DE5-02496310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3C929-FF87-4E9A-A196-A29B547D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Parquet lake + catalog + data card +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CEDB5-4A66-4E47-9B06-4FD6F44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58B2C-3A54-4632-A10C-7DEECDD2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Schema nào giữ được text, LaTeX và Lean mà không làm mất provenance?</a:t>
            </a:r>
          </a:p>
        </p:txBody>
      </p:sp>
    </p:spTree>
    <p:extLst>
      <p:ext uri="{BB962C8B-B14F-4D97-AF65-F5344CB8AC3E}">
        <p14:creationId xmlns:p14="http://schemas.microsoft.com/office/powerpoint/2010/main" val="393594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1D215-6C5B-43DE-8BC9-87720785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DD6C3-27B1-40EB-BFEB-DE023D6D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89ACC-669C-4F6D-9AE0-CD9E337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36156-FEF7-41C8-9750-58CEE6D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2 - Math Data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98064-2F15-4B7B-82F9-E1772601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43681-6DFF-4267-84EA-E4B442A9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4F9A3-AD3B-4025-A032-7F069357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c3ab0c9794560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057D2-8982-4463-B57F-ED9A22FE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Đo, phát hiện và giảm trùng lặp, lỗi định dạng và data leakage.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028A9-B606-4B0B-B93E-B27B282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5CE2A-7AC7-4C67-B6CA-9C67A72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22693-4CA4-440B-8A79-792661C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lake do Nhóm 1 xây dựng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FEC70-84EE-46D3-B9DC-6E97901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83B46-F831-4CE3-862B-88BA69A4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Công cụ: rule checks, MinHash/LSH,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2FD26-12C2-45AB-B00B-9FC7D7B0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5C2CD-F4AD-4DD9-87A6-484856BD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exact hash + regex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391A3-1144-496F-B8A1-D82FE634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50732-4E56-470C-B6AE-CC739D94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10K → 100K → 1M cặp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97C14-8F23-49E5-93AB-191A2F17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8E6E9-FA1F-4480-A47D-4BA9ED1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777FC-4F5A-4A8F-A37A-A312370E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Quality dashboard + clean split + audit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C925F-35A0-454B-B346-04CF4FD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2CFD9-3FBB-454C-A28F-890F866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 lớn hơn có ích gì nếu leakage làm sai kết quả?</a:t>
            </a:r>
          </a:p>
        </p:txBody>
      </p:sp>
    </p:spTree>
    <p:extLst>
      <p:ext uri="{BB962C8B-B14F-4D97-AF65-F5344CB8AC3E}">
        <p14:creationId xmlns:p14="http://schemas.microsoft.com/office/powerpoint/2010/main" val="701496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82DDC-DDCD-48F2-B5F6-4BFF3B31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838E0-F4CD-4806-B276-92DC44F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F54EB-4C07-421A-AFF5-49D901B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A3DB8-10EC-4741-8915-1F18EE88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3 - Lean Retrieval: Sparse/Hybrid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BE1AC-9A57-41AD-90AD-0B7D0AFD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4A31F-F06B-4231-9FA6-DCEA1075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02A70-1485-4180-A0BE-B91C9DA5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4ab033a784016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2F7CE-1443-4F45-AA7A-5D0C2AE1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Tìm premise bằng từ khóa và tín hiệu cấu trúc trên thư viện lớn.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BBFDA-66C4-4514-B6F1-BE598CB4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ED0B6-E080-4A97-816C-D59DF4C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A6C89-ED8C-42E7-928D-09E7721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mathlib4/LeanDojo theorem-premise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7D5FF-B635-4019-9BB4-9981D50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EF71F-EA48-4FEA-A066-86B37C81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Phương pháp: BM25 + field weights + hybrid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B7D40-CA3E-48B4-88AD-225414E3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69C6C-120E-4A24-AC53-C9EBC27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TF-IDF/BM25 mặc định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C9B09-3D90-40DD-A06B-A4D13ED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7CC5C-9718-42B0-880D-EB2D606B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số theorem và số truy vấn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64009-E0A4-4D25-A3EA-FF822F8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16A5B-1FF4-4F24-9FE7-9FA981C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6F48F-726F-4CA3-B34E-60FB4762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Search service + index + Recall@k/latency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4ED0C-C2F6-472C-9AEA-1584BB05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C2A20-03D7-46B3-BC07-B32D9E7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Tín hiệu cấu trúc cải thiện recall hay chỉ làm tăng chi phí?</a:t>
            </a:r>
          </a:p>
        </p:txBody>
      </p:sp>
    </p:spTree>
    <p:extLst>
      <p:ext uri="{BB962C8B-B14F-4D97-AF65-F5344CB8AC3E}">
        <p14:creationId xmlns:p14="http://schemas.microsoft.com/office/powerpoint/2010/main" val="5785357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BF4B1-EDBF-4AFF-AD8B-5F121779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24D41-FD0F-4356-9235-DB490366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989B1-18D8-44CA-BBC2-0B62F8E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EEC97-0894-4397-BB88-0D06306F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4 - Lean Retrieval: Dense/ANN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DC10F-B01B-4964-BE4C-6A5B6E7F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9F28F-826B-4EF4-9642-47B86104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A0916-D7F4-47C2-A29F-4516074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3953d9d846e9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EB730-EAEB-44D1-A199-AF396400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Đánh đổi chất lượng truy hồi, độ trễ và bộ nhớ của ANN.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3E6EA-80C9-4A62-A261-130D025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CF8C8-B4A0-4FBF-9216-C92819D9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C976F-8DCF-49C1-A284-1E68255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cùng benchmark với Nhóm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D0533-DBC1-4EA8-9722-D165F90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53D0C-86DD-49D1-87A9-17F737A8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Phương pháp: embedding + Faiss HNSW/IVF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638E2-C812-4D37-A16F-BEAAE50B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82639-4180-423C-BB5E-AD7E16D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exact cosine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42EB5-40AF-4062-88D9-F812456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50672-88AA-41BC-817A-650210D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10K → 100K → toàn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97EA5-DE47-4636-B468-C912094F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DA5F0-F112-4FE6-B514-A1FAA78D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F1D9C-8ED4-4DE1-82FE-97634191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ANN service + Pareto recall-latency-memory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0B666-17E2-4E26-9A57-F8D2A27C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9AD0A-D8CA-4686-84E0-795E3C5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Index nhanh hơn bao nhiêu trước khi mức giảm recall trở nên không đáng?</a:t>
            </a:r>
          </a:p>
        </p:txBody>
      </p:sp>
    </p:spTree>
    <p:extLst>
      <p:ext uri="{BB962C8B-B14F-4D97-AF65-F5344CB8AC3E}">
        <p14:creationId xmlns:p14="http://schemas.microsoft.com/office/powerpoint/2010/main" val="15738461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55530-435E-40CB-AF8C-0FD689D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DC4B4-82E1-44E8-A16E-4A53B2A0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29733-D78F-4B09-BE01-546C12B2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CADD6-FB5D-4A9E-A331-98B50894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5 - Autoformalization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8FFA2-837C-4E3B-995A-182C585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6961F-C44E-4794-AC7A-67E8EFDD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D59F8-36C8-4A37-805A-3608EF7F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1e8313be849fd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DB407-B6BD-430B-807F-FFAA2AF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Sinh hàng loạt phát biểu Lean từ đề toán bằng ngôn ngữ tự nhiên.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60DBC-1D53-4AF3-8FFE-4F08E92D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C80D2-9950-4F34-9C44-56F5CA7B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6361F-3778-42A9-8495-A491D85D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ProofNet và bài toán có đáp án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E797F-BB92-474E-8AA7-173C814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729D0-565D-4BEA-9173-011D89A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Hệ thống: batch inference, queue, Lean workers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D7AAE-970C-400B-BCDB-4D20324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9858B-8D3A-452E-8419-C6533E1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zero-shot, một mẫu mỗi lần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E724D-3952-43E4-B5A1-738968B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E0D93-142A-412B-9DEA-95184AE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100 → 1K → 10K đề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3F578-5A7A-4CA4-A9F8-54E4A8F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472C2-2376-4FB3-A36F-937E9E8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7F4B2-125D-48CB-A66B-BDB8D90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Pipeline + corpus formalized + semantic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C02A7-5F18-45A2-BBBE-DB38DB6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14A83-79C0-4664-BBA0-2979510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Compile được nhưng sai nghĩa: hệ thống phải phát hiện thế nào?</a:t>
            </a:r>
          </a:p>
        </p:txBody>
      </p:sp>
    </p:spTree>
    <p:extLst>
      <p:ext uri="{BB962C8B-B14F-4D97-AF65-F5344CB8AC3E}">
        <p14:creationId xmlns:p14="http://schemas.microsoft.com/office/powerpoint/2010/main" val="14169396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12BD-9EE7-4F7F-B400-93B00A5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9428F-6ACD-425C-A85F-0EDAC14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05EC4-0A6D-4218-9615-CAB3062E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2E97C-6272-4C54-BE07-0EA53D5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6 - Verifier-Guided Repair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382E0-E044-4AEB-9019-43F9E60B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5B508-F669-43E5-8938-E3D7AF8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843FA-5233-40DC-8CF4-16676CE2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fdf595cd643d4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B3203-14DD-4DA4-AEC4-DA871109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Dùng phản hồi của Lean để phân loại và sửa lỗi với ngân sách giới hạn.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CCE33-BB7A-4D5F-A6F5-6351E3B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CCFC7-F3A8-4045-91CE-62C4E264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7A6D7-0020-43F3-B6F3-FEB9AA8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đầu ra lỗi từ pipeline Nhóm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B63AD-F53D-42E6-AEBE-F89F2ED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835A8-3019-4C1C-BA8B-A10521C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Hệ thống: error taxonomy, retry queue, repair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69CC2-0EEB-4159-9026-8665EF3E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94528-7C3C-47F4-9571-80E7625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lặp lại nguyên prompt một lần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2CD35-A0FD-4AA5-9C12-1D6DAC6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58E44-BAE2-4389-A1D6-6E325DF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số worker và độ dài hàng đợi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AEAD1-7127-4B2E-9F0B-089C5702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C7E76-E50A-4590-97C3-BFEE2EA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35078-6B3A-41A5-8051-D6D30AC3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Repair service + taxonomy + success/cost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EC85D-AA68-41DD-964F-A420F6B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E2E8C-845D-4F7B-AC52-FE65793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Tăng compile rate có đủ nếu chi phí token tăng mạnh?</a:t>
            </a:r>
          </a:p>
        </p:txBody>
      </p:sp>
    </p:spTree>
    <p:extLst>
      <p:ext uri="{BB962C8B-B14F-4D97-AF65-F5344CB8AC3E}">
        <p14:creationId xmlns:p14="http://schemas.microsoft.com/office/powerpoint/2010/main" val="6865093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53BD0-05CE-454D-87B4-A769FD84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EEF9-A406-47AE-A9A5-C10A6772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3920C-3CC8-41CA-8BF1-69FEB79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04F93-0C19-48C8-B007-F53B979A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7 - Proof-Search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75B8A-0D38-4689-AB22-A9B3B7D9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084AC-51A2-4BB2-A1A4-04A4B928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B9216-F50F-45FF-8EE1-63E628C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1c106b7ba4182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C7843-8D9F-47DE-B171-14276E4D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Phân tích search traces để dự đoán tactic và cắt nhánh tìm kiếm.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BF19-1C8E-40B6-8262-5E1D8DB1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60BC6-F36D-45EC-9346-A38A751A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86751-F23B-4CF9-99BE-0BD872A3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LeanDojo traces hoặc traces tự sinh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825CB-2719-46C0-97A1-96434A2B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6F00B-3762-423B-B77D-E86E089E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Hệ thống: Parquet events + Spark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E6178-DD88-4FB0-8B07-D60D75C1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F31DD-0B39-483A-8B03-84E2B575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search không pruning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22604-D0C3-4C44-9F16-5FB82A37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F01FE-B560-47FA-9E24-79BD6D26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theorem × search budget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DC459-9A92-4C6E-BEDD-0B6F1E0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3415B-E673-4591-BA51-489DC51D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680C4-0187-4EB3-B044-30BFAF6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Trace lake + dashboard + pruning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53E73-A642-4AB8-8471-86521CCF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CCF61-11BF-40B4-BC3C-480F138D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Giảm states expanded nhưng proof rate cũng giảm: chấp nhận mức nào?</a:t>
            </a:r>
          </a:p>
        </p:txBody>
      </p:sp>
    </p:spTree>
    <p:extLst>
      <p:ext uri="{BB962C8B-B14F-4D97-AF65-F5344CB8AC3E}">
        <p14:creationId xmlns:p14="http://schemas.microsoft.com/office/powerpoint/2010/main" val="13035122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22CD3-B3A9-4A0C-ABFC-5DA902F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73D4-B8B2-4474-90E1-51F8360A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EE143-52A9-4F49-B7B3-2E3657D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EA281-2DE8-4F86-A3AB-EC6B3881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Nhóm 8 - AI Math Tutor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40B8A-BA22-417C-974E-EAB6281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50B6B-67F6-4DE7-A2F9-556C5491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C6C58-4BED-436D-AA5D-6EC12262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a68014d4744d3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55460-7AA2-4C6C-9F76-AC08221B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Xử lý luồng tương tác và đưa ra phản hồi toán học có kiểm chứng.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1C687-05F2-4F18-B021-BB97B3DD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Dữ liệu - phương pháp - quy mô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DAFD2-4F12-4B2B-9D98-4CFFDE62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7A1F4-DCE1-4A3F-9733-E9EFD275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Dữ liệu: sự kiện bài làm mô phỏng hoặc ẩn danh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02E1D-4D04-4E17-B4CD-B1770AA6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12579-AF11-4DD9-B0DD-84974404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Hệ thống: Kafka + Structured Streaming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7D2D6-5C8B-41F7-BFC5-4E4F6DB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E4A6B-D974-44DF-959A-F8214318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Baseline: batch profile theo ngày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E7E2B-C793-43B8-AC20-4D12C790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599E"/>
                </a:solidFill>
              </a:defRPr>
            </a:pPr>
            <a:r>
              <a:rPr sz="1425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5C815-D119-4D1C-98B4-3B1F1347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791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Quy mô: 100 → 1K → 10K người học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D2AA5-3146-4A0B-8A43-06AE49EC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B9228-E6A8-4746-B003-14D1BBB3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SẢN PHẨM BÀN GIAO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263F4-18B7-4E7F-96EA-89ED3D6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0859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Streaming demo + learner state + verified hints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3EC39-89E4-4DB3-B333-719AFB9B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1F556-26BD-430F-8498-B91CBE2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Làm sao đánh giá đồng thời độ trễ, độ đúng và giá trị sư phạm?</a:t>
            </a:r>
          </a:p>
        </p:txBody>
      </p:sp>
    </p:spTree>
    <p:extLst>
      <p:ext uri="{BB962C8B-B14F-4D97-AF65-F5344CB8AC3E}">
        <p14:creationId xmlns:p14="http://schemas.microsoft.com/office/powerpoint/2010/main" val="8063051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4326D-0308-4520-8768-CA340F4A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D01DB-A06A-4E11-9E27-5BB62C4E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C62AE-6F2C-488C-AE2C-345D581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4BC69-BC52-497B-B6B8-D9E7DC0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Mỗi tuần phải có một sản phẩm kiểm tra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05539-E2AE-4A63-B4C7-10CFA9E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5721-BD87-4886-AFC6-5ED4694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B6F8A-629A-41EE-8556-85261E8E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f085e21094ef7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9B7C5-C37B-40AD-B1ED-C736056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Các nhóm không đợi tới cuối kỳ mới tích hợp hệ thống.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753EF-7A85-4254-B221-46B3AE14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815DD-42AA-4FEC-B831-D3F91501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E0A7D-0496-4058-AA69-0041B277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W1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Đề cương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40DB2-4312-4DD4-A7D2-7ED066E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CB1D5-D171-4B8F-9A0A-1EB638B1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1C171-AE06-456A-847E-CA147B22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AC43D-C51F-4863-B0BE-EC09CF1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W2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Data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62D6-BEA2-4745-9DF9-A1F47AB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B4B7A-A12C-4975-829B-5AEA93F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F7563-6144-4C10-AC4A-5DA56B9F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67311-1452-4050-A17F-23D48E23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W3-4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9A22C-1986-45AE-A897-649FF75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36979-6444-4290-AFDF-A2EB47E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A2670-5B62-43E6-961B-5D90C852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EC15B-E3DA-40DA-85F5-77B602A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W5-7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9E6F4-9076-4956-BE94-AE2F3B0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1465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99E"/>
                </a:solidFill>
              </a:defRPr>
            </a:pPr>
            <a:r>
              <a:rPr sz="1500" b="1">
                <a:solidFill>
                  <a:srgbClr val="00599E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4CC95-ACA3-479E-80B0-4C8E45D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526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99E"/>
                </a:solidFill>
              </a:defRPr>
            </a:pPr>
            <a:r>
              <a:rPr sz="1275" b="1">
                <a:solidFill>
                  <a:srgbClr val="00599E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C3E90-EAFF-43F3-9B2A-15CEB4D8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7650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0DF6D3-4D6B-489D-8A55-A277675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81275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W8-10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Paper, demo, bảo vệ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E3812-3FF3-4B68-A232-472FB216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8B8"/>
                </a:solidFill>
              </a:defRPr>
            </a:pPr>
            <a:r>
              <a:rPr sz="1575" b="1">
                <a:solidFill>
                  <a:srgbClr val="1328B8"/>
                </a:solidFill>
              </a:rPr>
              <a:t>Ghi nhớ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F47AF-5C51-43E4-9601-FECE6E8C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Mỗi checkpoint phải tạo ra code, dữ liệu, log, bảng kết quả hoặc bản demo có thể kiểm tra.</a:t>
            </a:r>
          </a:p>
        </p:txBody>
      </p:sp>
    </p:spTree>
    <p:extLst>
      <p:ext uri="{BB962C8B-B14F-4D97-AF65-F5344CB8AC3E}">
        <p14:creationId xmlns:p14="http://schemas.microsoft.com/office/powerpoint/2010/main" val="9911136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2E085-F047-4176-93F4-0862EC92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C29F5-BBD6-4E54-AB55-BA67711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36F45-30EE-4590-B26F-E6D9A04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8C3E5-53E9-4A88-A8BB-8297181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Phân vai cho nhóm 6-7 bạn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CF5D5-7424-4177-B41E-EFB94AD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BEED9-7E4B-4FAA-BE24-816DF6BF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8F375-0076-46BE-972B-450DDCC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7edf040984b61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46398-03E5-4DF8-97D7-C612D48B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Mỗi người có trách nhiệm chính nhưng phải hiểu toàn bộ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6158-64C7-4797-9705-32416682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236CC-FAB1-4166-8E08-1EF0D2E2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Data: nguồn, schema, quality, 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CC3C2-0316-4DBF-B33A-A38B8AA4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F88A8-E88E-4ACF-B988-FC46EED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System: pipeline, storage, serving,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A30B8-3A21-4982-A943-C4E2478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F1E0A-F589-4F52-B5AC-D933ADA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Model: baseline, feature/model, error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1EA13-03B2-4BE3-AA1C-65DEFA5A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E640A-8D6A-49C2-A3C0-BF24DFE6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Evaluation: scale, reproducibility, report và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C18E0-314D-4EE3-A54F-99774E94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5CB9B-B56B-42EB-9355-8C779F9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NGUYÊN TẮC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98903-21B4-4A2E-B1FA-0FB9426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Mỗi vai trò có người chính và người dự phòng; mọi người đều phải bảo vệ được sản phẩm.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336AA-ECAC-4B66-97BA-1103961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1885A-6884-4AD7-B2E9-D66E976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Chia việc thế nào để commit và bằng chứng phản ánh đúng đóng góp?</a:t>
            </a:r>
          </a:p>
        </p:txBody>
      </p:sp>
    </p:spTree>
    <p:extLst>
      <p:ext uri="{BB962C8B-B14F-4D97-AF65-F5344CB8AC3E}">
        <p14:creationId xmlns:p14="http://schemas.microsoft.com/office/powerpoint/2010/main" val="1341340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E5664-DB5F-4CC3-B30B-5D54C41B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91B14-AE6F-4715-8F9B-74140A57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6E083-5A40-493E-9CF6-3E9A3172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8A298-8CA1-4836-9F84-16AA2B9D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Một claim phải đi kèm minh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EA7A8-DF96-4531-B6A5-C385F1B6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B1ACD-E413-4724-9C2D-1D4BB50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430B3-D41C-403B-8F1D-E959A760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9407b349a40cc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14463-2960-4C45-B6C2-54752DB3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Ảnh chụp màn hình không thay thế được log và kết quả có thể tái lập.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CBF7D-C5F2-45E7-A235-7213AB0E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E7D3A-E0D2-4109-AE54-665F97DB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Git history và issue 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554CA-8A22-4F39-A071-A64612A8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D7F5F-B537-4FA7-9D34-634F3042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Environment lock và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6894F-FE3E-423C-BD0C-C8A9070F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76425-B322-4572-AD56-FC9DE9CC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Raw results không chỉnh tay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F90EA-2BE9-4645-A54C-1D4F80A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EC282-A710-4D73-9D1C-E7878907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Biểu đồ scale và error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C4C50-FD51-4E49-BC97-C0658A0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B9D0B-1669-4A50-95C8-BEB987A4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VÍ DỤ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E146A-1B5C-4A2C-AC68-5EB5DA69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Runtime phải kèm cấu hình phần cứng, kích thước dữ liệu và số lần lặp.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2F631-445D-43A9-90D6-AD0A0ED0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052BF-79BD-41BD-BECC-EB03530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Những thông tin nào là tối thiểu để người khác tái lập kết quả?</a:t>
            </a:r>
          </a:p>
        </p:txBody>
      </p:sp>
    </p:spTree>
    <p:extLst>
      <p:ext uri="{BB962C8B-B14F-4D97-AF65-F5344CB8AC3E}">
        <p14:creationId xmlns:p14="http://schemas.microsoft.com/office/powerpoint/2010/main" val="14483537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EF65B-08D0-43D9-B751-9FB5D025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4B055-434A-4CAD-A01F-59F9136E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30BC-BC9A-4406-9564-40DF765C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C8936-E3A1-4CD4-AE16-1D1275DF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Sử dụng AI có trách nhiệm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1AEF2-E168-4533-B2FD-728795D4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8F25E-6153-4F94-AF54-902CE6B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BF4B6-17EA-4EAB-A6AD-AFD7C2A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05c03c8eb4297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38209-258D-4D29-9955-2DD361F1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Các bạn được dùng AI hỗ trợ nhưng phải khai báo và kiểm chứng.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3270E-A9DE-4D01-9B1F-8385E61C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DC762-889F-42B8-A24D-2FDC78B4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Ghi công cụ và mục đích sử dụng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CA900-45EB-4583-849B-AD0EB241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6C3B0-23D3-428B-890C-83227568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Không nộp đoạn mã mình chưa hiểu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8C8A2-703B-44BA-826C-8E57C8AC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129F1-45AF-4C36-AD68-8A9AC71A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Kiểm tra nguồn và giấy phép dữ liệu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FDFCF-1CF1-412F-9A7F-44C0FBF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EF0F0-A325-4C7B-B116-EB06FA2B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Lean/compiler là checker, không thay thế đánh giá ngữ nghĩa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9771F-A644-4FA6-94E2-239E5CE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383FA-1DDA-4BA5-9FF8-1119E8A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BẮT BUỘC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44F7C-5420-4FC8-80B8-115888F6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Báo cáo phải có phụ lục AI-use statement mô tả rõ phần việc được AI hỗ trợ.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6393A-0C0D-456F-85FC-D737A1AF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C72D4-3124-4259-AAB4-1974B922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Ai chịu trách nhiệm nếu mô hình ngôn ngữ sinh theorem sai?</a:t>
            </a:r>
          </a:p>
        </p:txBody>
      </p:sp>
    </p:spTree>
    <p:extLst>
      <p:ext uri="{BB962C8B-B14F-4D97-AF65-F5344CB8AC3E}">
        <p14:creationId xmlns:p14="http://schemas.microsoft.com/office/powerpoint/2010/main" val="21397318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72BDD-2C84-4E65-AC7F-22E3DFCA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Bài tập lớn AI4Math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758E5-6692-4D1B-874C-4B9A85D8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"/>
            <a:ext cx="619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8A888-8BFD-4F65-99E8-5662C3FA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08080"/>
                </a:solidFill>
              </a:defRPr>
            </a:pPr>
            <a:r>
              <a:rPr sz="975" b="0">
                <a:solidFill>
                  <a:srgbClr val="808080"/>
                </a:solidFill>
              </a:rPr>
              <a:t>1-22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A8447-B004-4569-A205-1A12294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0000"/>
                </a:solidFill>
              </a:defRPr>
            </a:pPr>
            <a:r>
              <a:rPr sz="2025" b="1">
                <a:solidFill>
                  <a:srgbClr val="E60000"/>
                </a:solidFill>
              </a:rPr>
              <a:t>Đánh giá theo đề cương INT4418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EE2F2-DF2D-47C7-AF24-7744B05D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0000"/>
                </a:solidFill>
              </a:defRPr>
            </a:pPr>
            <a:r>
              <a:rPr sz="825" b="1">
                <a:solidFill>
                  <a:srgbClr val="E60000"/>
                </a:solidFill>
              </a:rPr>
              <a:t>Dữ liệu lớn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6C6FB-9803-42F2-B988-6D1CB414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10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8B8"/>
                </a:solidFill>
              </a:defRPr>
            </a:pPr>
            <a:r>
              <a:rPr sz="825" b="1">
                <a:solidFill>
                  <a:srgbClr val="1328B8"/>
                </a:solidFill>
              </a:rPr>
              <a:t>-  Nguyễn Kiều Linh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8B9C1-B01D-4F54-9E4D-A3ACEEFA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15100"/>
            <a:ext cx="5095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5397b23e44d79"/>
          <a:stretch xmlns:a="http://schemas.openxmlformats.org/drawingml/2006/main"/>
        </p:blipFill>
        <p:spPr>
          <a:xfrm xmlns:a="http://schemas.openxmlformats.org/drawingml/2006/main">
            <a:off x="8096250" y="6210882"/>
            <a:ext cx="514350" cy="4941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D213F-B5DE-4B4B-AF84-9DA2EB6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Giữ đúng cơ cấu 10-10-20-60; sản phẩm project cung cấp bằng chứng đánh giá.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6F102-E354-494B-8E0D-65CCD16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D12B2-5C3D-4334-9AEF-D604925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10% chuyên cần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07222-AC24-44C6-90DB-1C97BB80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1C56D-C22A-465C-9085-0A889E1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10% bài tập, nhóm, seminar và thực hành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CD3A4-8DC9-4ACD-9A13-7595B5A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8A235-8AA6-4EAB-AC5D-DD063921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20% giữa kỳ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C8381-1F29-402D-A683-26D6C0CD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599E"/>
                </a:solidFill>
              </a:defRPr>
            </a:pPr>
            <a:r>
              <a:rPr sz="1500" b="0">
                <a:solidFill>
                  <a:srgbClr val="00599E"/>
                </a:solidFill>
              </a:rPr>
              <a:t>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B21FD-8593-4A2D-ACAF-7B32E5B8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60% cuối kỳ: viết hoặc vấn đáp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41326-A0C5-4E59-8B02-27A5A9E5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428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395EF-DBF6-4C4A-80C3-0403E40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B8"/>
                </a:solidFill>
              </a:defRPr>
            </a:pPr>
            <a:r>
              <a:rPr sz="1275" b="1">
                <a:solidFill>
                  <a:srgbClr val="1328B8"/>
                </a:solidFill>
              </a:rPr>
              <a:t>HỒ SƠ BẢO VỆ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B74A9-ACE7-4210-8BEF-3083B068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0859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Báo cáo, code, demo, log và lịch sử đóng góp được dùng để đánh giá sản phẩm nhóm.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699E3-3408-443B-96AE-DB915A7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8B8"/>
                </a:solidFill>
              </a:defRPr>
            </a:pPr>
            <a:r>
              <a:rPr sz="1425" b="1">
                <a:solidFill>
                  <a:srgbClr val="1328B8"/>
                </a:solidFill>
              </a:rPr>
              <a:t>Câu hỏi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E161C-4620-40DE-8F2D-A8A66AD9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Bằng chứng nào giúp phân biệt đóng góp cá nhân trong sản phẩm chung?</a:t>
            </a:r>
          </a:p>
        </p:txBody>
      </p:sp>
    </p:spTree>
    <p:extLst>
      <p:ext uri="{BB962C8B-B14F-4D97-AF65-F5344CB8AC3E}">
        <p14:creationId xmlns:p14="http://schemas.microsoft.com/office/powerpoint/2010/main" val="1380254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2026-09-04T04:59:51.3120000Z</dcterms:created>
  <dcterms:modified xsi:type="dcterms:W3CDTF">2026-09-04T04:59:51.3120000Z</dcterms:modified>
</coreProperties>
</file>